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02" d="100"/>
          <a:sy n="102" d="100"/>
        </p:scale>
        <p:origin x="88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31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54864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 Standards for AI System Development Lifecycle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37160" y="411480"/>
            <a:ext cx="1188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15 Standards  ·  5 Governance Personas  ·  ISO/IEC JTC 1 / SC 42</a:t>
            </a:r>
            <a:endParaRPr lang="en-US" sz="11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03320" y="1911096"/>
            <a:ext cx="228600" cy="0"/>
          </a:xfrm>
          <a:prstGeom prst="line">
            <a:avLst/>
          </a:prstGeom>
          <a:noFill/>
          <a:ln w="25400">
            <a:solidFill>
              <a:srgbClr val="4090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0" y="1911096"/>
            <a:ext cx="228600" cy="0"/>
          </a:xfrm>
          <a:prstGeom prst="line">
            <a:avLst/>
          </a:prstGeom>
          <a:noFill/>
          <a:ln w="25400">
            <a:solidFill>
              <a:srgbClr val="4090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213848" y="3163824"/>
            <a:ext cx="0" cy="146304"/>
          </a:xfrm>
          <a:prstGeom prst="line">
            <a:avLst/>
          </a:prstGeom>
          <a:noFill/>
          <a:ln w="25400">
            <a:solidFill>
              <a:srgbClr val="4090CC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49240" y="4992624"/>
            <a:ext cx="228600" cy="0"/>
          </a:xfrm>
          <a:prstGeom prst="line">
            <a:avLst/>
          </a:prstGeom>
          <a:noFill/>
          <a:ln w="25400">
            <a:solidFill>
              <a:srgbClr val="4090CC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40696" y="3172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90CC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▼</a:t>
            </a:r>
            <a:endParaRPr lang="en-US" sz="105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" y="658368"/>
            <a:ext cx="3566160" cy="2505456"/>
          </a:xfrm>
          <a:prstGeom prst="rect">
            <a:avLst/>
          </a:prstGeom>
          <a:solidFill>
            <a:srgbClr val="0D2540"/>
          </a:solidFill>
          <a:ln w="19050">
            <a:solidFill>
              <a:srgbClr val="5BA4F5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7160" y="658368"/>
            <a:ext cx="3566160" cy="420624"/>
          </a:xfrm>
          <a:prstGeom prst="rect">
            <a:avLst/>
          </a:prstGeom>
          <a:solidFill>
            <a:srgbClr val="1B4F8C"/>
          </a:solidFill>
          <a:ln w="12700">
            <a:solidFill>
              <a:srgbClr val="1B4F8C"/>
            </a:solidFill>
            <a:prstDash val="solid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312" y="69494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Board Room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0312" y="905256"/>
            <a:ext cx="3419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CF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Strategy &amp; Governance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" y="12161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38507</a:t>
            </a:r>
            <a:r>
              <a:rPr lang="en-US" sz="1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Board of Directors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" y="1429085"/>
            <a:ext cx="2041361" cy="62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Rule Borders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Boundaries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Formal Directives</a:t>
            </a:r>
          </a:p>
        </p:txBody>
      </p:sp>
      <p:sp>
        <p:nvSpPr>
          <p:cNvPr id="15" name="Text 13"/>
          <p:cNvSpPr/>
          <p:nvPr/>
        </p:nvSpPr>
        <p:spPr>
          <a:xfrm>
            <a:off x="228600" y="227079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42001</a:t>
            </a:r>
            <a:r>
              <a:rPr lang="en-US" sz="1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Chief AI Officer (CAIO)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" y="2590838"/>
            <a:ext cx="33832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8D4F8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AIMS Playbook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Compliance Handbook</a:t>
            </a:r>
          </a:p>
        </p:txBody>
      </p:sp>
      <p:sp>
        <p:nvSpPr>
          <p:cNvPr id="17" name="Shape 15"/>
          <p:cNvSpPr/>
          <p:nvPr/>
        </p:nvSpPr>
        <p:spPr>
          <a:xfrm>
            <a:off x="3931920" y="658368"/>
            <a:ext cx="3840480" cy="2505456"/>
          </a:xfrm>
          <a:prstGeom prst="rect">
            <a:avLst/>
          </a:prstGeom>
          <a:solidFill>
            <a:srgbClr val="053030"/>
          </a:solidFill>
          <a:ln w="19050">
            <a:solidFill>
              <a:srgbClr val="2EC4B6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931920" y="658368"/>
            <a:ext cx="3840480" cy="420624"/>
          </a:xfrm>
          <a:prstGeom prst="rect">
            <a:avLst/>
          </a:prstGeom>
          <a:solidFill>
            <a:srgbClr val="0A6060"/>
          </a:solidFill>
          <a:ln w="12700">
            <a:solidFill>
              <a:srgbClr val="0A6060"/>
            </a:solidFill>
            <a:prstDash val="solid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5072" y="6949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Inspectors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005072" y="905256"/>
            <a:ext cx="3694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CF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&amp; Safety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0" y="1202943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23894</a:t>
            </a:r>
            <a:r>
              <a:rPr lang="en-US" sz="10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Risk Manager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23360" y="1442384"/>
            <a:ext cx="1627632" cy="656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Failure Modes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Assessment to Mitigation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Risk Management</a:t>
            </a:r>
          </a:p>
        </p:txBody>
      </p:sp>
      <p:sp>
        <p:nvSpPr>
          <p:cNvPr id="23" name="Text 21"/>
          <p:cNvSpPr/>
          <p:nvPr/>
        </p:nvSpPr>
        <p:spPr>
          <a:xfrm>
            <a:off x="4023360" y="2285921"/>
            <a:ext cx="1325880" cy="268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24027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Auditor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0" y="2535330"/>
            <a:ext cx="1645920" cy="24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A8E6E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Biases &amp; Fairness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2740EC-5CC6-EABE-A855-9EAA94158ACF}"/>
              </a:ext>
            </a:extLst>
          </p:cNvPr>
          <p:cNvGrpSpPr/>
          <p:nvPr/>
        </p:nvGrpSpPr>
        <p:grpSpPr>
          <a:xfrm>
            <a:off x="6232207" y="1222436"/>
            <a:ext cx="1448753" cy="597109"/>
            <a:chOff x="6232207" y="1293876"/>
            <a:chExt cx="1448753" cy="597109"/>
          </a:xfrm>
        </p:grpSpPr>
        <p:sp>
          <p:nvSpPr>
            <p:cNvPr id="25" name="Text 23"/>
            <p:cNvSpPr/>
            <p:nvPr/>
          </p:nvSpPr>
          <p:spPr>
            <a:xfrm>
              <a:off x="6232207" y="1293876"/>
              <a:ext cx="1448753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C4B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24028</a:t>
              </a:r>
              <a:r>
                <a:rPr lang="en-US" sz="14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Architect</a:t>
              </a:r>
              <a:endPara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232207" y="1616665"/>
              <a:ext cx="1325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ts val="168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A8E6E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</a:t>
              </a:r>
              <a:r>
                <a:rPr lang="en-US" sz="9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Transparency</a:t>
              </a:r>
            </a:p>
            <a:p>
              <a:pPr marL="171450" indent="-171450">
                <a:lnSpc>
                  <a:spcPts val="168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I am AI Bot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A4490C-A370-21E3-7EB3-177F32B487EE}"/>
              </a:ext>
            </a:extLst>
          </p:cNvPr>
          <p:cNvGrpSpPr/>
          <p:nvPr/>
        </p:nvGrpSpPr>
        <p:grpSpPr>
          <a:xfrm>
            <a:off x="6235064" y="2065979"/>
            <a:ext cx="1325880" cy="879651"/>
            <a:chOff x="6263640" y="1208724"/>
            <a:chExt cx="1325880" cy="879651"/>
          </a:xfrm>
        </p:grpSpPr>
        <p:sp>
          <p:nvSpPr>
            <p:cNvPr id="27" name="Text 25"/>
            <p:cNvSpPr/>
            <p:nvPr/>
          </p:nvSpPr>
          <p:spPr>
            <a:xfrm>
              <a:off x="6263640" y="1208724"/>
              <a:ext cx="1325880" cy="2743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EC4B6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24029</a:t>
              </a:r>
              <a:r>
                <a:rPr lang="en-US" sz="1100" b="1" dirty="0">
                  <a:solidFill>
                    <a:srgbClr val="FFFFFF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SecOps</a:t>
              </a:r>
              <a:endPara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6263640" y="1434579"/>
              <a:ext cx="1325880" cy="6537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ts val="168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A8E6E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</a:t>
              </a:r>
              <a:r>
                <a:rPr lang="en-US" sz="9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Hacking</a:t>
              </a:r>
            </a:p>
            <a:p>
              <a:pPr marL="171450" indent="-171450">
                <a:lnSpc>
                  <a:spcPts val="168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Robustness Checks</a:t>
              </a:r>
            </a:p>
            <a:p>
              <a:pPr marL="171450" indent="-171450">
                <a:lnSpc>
                  <a:spcPts val="168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Sec @ High Loads</a:t>
              </a:r>
            </a:p>
          </p:txBody>
        </p:sp>
      </p:grpSp>
      <p:sp>
        <p:nvSpPr>
          <p:cNvPr id="29" name="Shape 27"/>
          <p:cNvSpPr/>
          <p:nvPr/>
        </p:nvSpPr>
        <p:spPr>
          <a:xfrm>
            <a:off x="8001000" y="658368"/>
            <a:ext cx="4023360" cy="2505456"/>
          </a:xfrm>
          <a:prstGeom prst="rect">
            <a:avLst/>
          </a:prstGeom>
          <a:solidFill>
            <a:srgbClr val="2A1250"/>
          </a:solidFill>
          <a:ln w="19050">
            <a:solidFill>
              <a:srgbClr val="B57BFF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01000" y="658368"/>
            <a:ext cx="4023360" cy="420624"/>
          </a:xfrm>
          <a:prstGeom prst="rect">
            <a:avLst/>
          </a:prstGeom>
          <a:solidFill>
            <a:srgbClr val="5B2A8C"/>
          </a:solidFill>
          <a:ln w="12700">
            <a:solidFill>
              <a:srgbClr val="5B2A8C"/>
            </a:solidFill>
            <a:prstDash val="solid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74152" y="6949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Assurers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74152" y="905256"/>
            <a:ext cx="3877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CF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 &amp; Trust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92440" y="1161288"/>
            <a:ext cx="2153206" cy="21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7B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42005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Ethics Committee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92440" y="1405145"/>
            <a:ext cx="1480671" cy="65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Supervision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Societal Impact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Reskilling</a:t>
            </a:r>
          </a:p>
        </p:txBody>
      </p:sp>
      <p:sp>
        <p:nvSpPr>
          <p:cNvPr id="35" name="Text 33"/>
          <p:cNvSpPr/>
          <p:nvPr/>
        </p:nvSpPr>
        <p:spPr>
          <a:xfrm>
            <a:off x="8111440" y="2184659"/>
            <a:ext cx="17916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7B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42006</a:t>
            </a:r>
            <a:r>
              <a:rPr lang="en-US" sz="10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Auditor (External)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74152" y="2339613"/>
            <a:ext cx="1789936" cy="71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D8C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Auditors — TÜV / BSI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Risk Logs (23894)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› Governance Docs (42001)</a:t>
            </a:r>
          </a:p>
        </p:txBody>
      </p:sp>
      <p:sp>
        <p:nvSpPr>
          <p:cNvPr id="37" name="Text 35"/>
          <p:cNvSpPr/>
          <p:nvPr/>
        </p:nvSpPr>
        <p:spPr>
          <a:xfrm>
            <a:off x="10185693" y="1614723"/>
            <a:ext cx="1480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7B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8200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Controller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172792" y="1796273"/>
            <a:ext cx="1791612" cy="43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D8C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Controllability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Human-in-the-Loop Oversight</a:t>
            </a:r>
          </a:p>
        </p:txBody>
      </p:sp>
      <p:sp>
        <p:nvSpPr>
          <p:cNvPr id="39" name="Shape 37"/>
          <p:cNvSpPr/>
          <p:nvPr/>
        </p:nvSpPr>
        <p:spPr>
          <a:xfrm>
            <a:off x="137160" y="3310128"/>
            <a:ext cx="5212080" cy="3364992"/>
          </a:xfrm>
          <a:prstGeom prst="rect">
            <a:avLst/>
          </a:prstGeom>
          <a:solidFill>
            <a:srgbClr val="0C3520"/>
          </a:solidFill>
          <a:ln w="19050">
            <a:solidFill>
              <a:srgbClr val="5CBD62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37160" y="3310128"/>
            <a:ext cx="5212080" cy="420624"/>
          </a:xfrm>
          <a:prstGeom prst="rect">
            <a:avLst/>
          </a:prstGeom>
          <a:solidFill>
            <a:srgbClr val="1A6438"/>
          </a:solidFill>
          <a:ln w="12700">
            <a:solidFill>
              <a:srgbClr val="1A6438"/>
            </a:solidFill>
            <a:prstDash val="solid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10312" y="3346704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AI Architects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10312" y="3557016"/>
            <a:ext cx="5065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CF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Foundation · Design &amp; Architecture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599" y="3840480"/>
            <a:ext cx="2217415" cy="21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BD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22989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Project Manager 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28600" y="4045712"/>
            <a:ext cx="1609346" cy="79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Concepts &amp; Terminology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Dictionary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Vocabulary</a:t>
            </a:r>
          </a:p>
        </p:txBody>
      </p:sp>
      <p:sp>
        <p:nvSpPr>
          <p:cNvPr id="45" name="Text 43"/>
          <p:cNvSpPr/>
          <p:nvPr/>
        </p:nvSpPr>
        <p:spPr>
          <a:xfrm>
            <a:off x="228609" y="5013997"/>
            <a:ext cx="2217405" cy="115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BD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23053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Data Architect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3860" y="5200708"/>
            <a:ext cx="1627632" cy="653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B0D9B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Systems using ML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Quality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Guardrail Block Checks</a:t>
            </a:r>
          </a:p>
        </p:txBody>
      </p:sp>
      <p:sp>
        <p:nvSpPr>
          <p:cNvPr id="47" name="Text 45"/>
          <p:cNvSpPr/>
          <p:nvPr/>
        </p:nvSpPr>
        <p:spPr>
          <a:xfrm>
            <a:off x="2838766" y="3895910"/>
            <a:ext cx="2171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CBD6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5338  DevOps Architect </a:t>
            </a:r>
          </a:p>
        </p:txBody>
      </p:sp>
      <p:sp>
        <p:nvSpPr>
          <p:cNvPr id="48" name="Text 46"/>
          <p:cNvSpPr/>
          <p:nvPr/>
        </p:nvSpPr>
        <p:spPr>
          <a:xfrm>
            <a:off x="2816352" y="4133654"/>
            <a:ext cx="1627632" cy="43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Release Pipeline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Release Quality Gates</a:t>
            </a:r>
          </a:p>
        </p:txBody>
      </p:sp>
      <p:sp>
        <p:nvSpPr>
          <p:cNvPr id="49" name="Shape 47"/>
          <p:cNvSpPr/>
          <p:nvPr/>
        </p:nvSpPr>
        <p:spPr>
          <a:xfrm>
            <a:off x="1892808" y="3803904"/>
            <a:ext cx="0" cy="2779776"/>
          </a:xfrm>
          <a:prstGeom prst="line">
            <a:avLst/>
          </a:prstGeom>
          <a:noFill/>
          <a:ln w="7620">
            <a:solidFill>
              <a:srgbClr val="1A5030"/>
            </a:solidFill>
            <a:prstDash val="dash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593592" y="3803904"/>
            <a:ext cx="0" cy="2779776"/>
          </a:xfrm>
          <a:prstGeom prst="line">
            <a:avLst/>
          </a:prstGeom>
          <a:noFill/>
          <a:ln w="7620">
            <a:solidFill>
              <a:srgbClr val="1A5030"/>
            </a:solidFill>
            <a:prstDash val="dash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577840" y="3310128"/>
            <a:ext cx="6446520" cy="3364992"/>
          </a:xfrm>
          <a:prstGeom prst="rect">
            <a:avLst/>
          </a:prstGeom>
          <a:solidFill>
            <a:srgbClr val="572B00"/>
          </a:solidFill>
          <a:ln w="19050">
            <a:solidFill>
              <a:srgbClr val="FFA040"/>
            </a:solidFill>
            <a:prstDash val="solid"/>
          </a:ln>
          <a:effectLst>
            <a:outerShdw blurRad="1270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577840" y="3310128"/>
            <a:ext cx="6446520" cy="420624"/>
          </a:xfrm>
          <a:prstGeom prst="rect">
            <a:avLst/>
          </a:prstGeom>
          <a:solidFill>
            <a:srgbClr val="A85500"/>
          </a:solidFill>
          <a:ln w="12700">
            <a:solidFill>
              <a:srgbClr val="A85500"/>
            </a:solidFill>
            <a:prstDash val="solid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50992" y="3346704"/>
            <a:ext cx="6300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Builders</a:t>
            </a:r>
            <a:endParaRPr lang="en-US" sz="11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50992" y="3557016"/>
            <a:ext cx="6300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0CFD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Engineering &amp; Data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69280" y="3840480"/>
            <a:ext cx="29653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5259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Data Quality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669281" y="4005072"/>
            <a:ext cx="1684666" cy="56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 &amp; Testing Data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“RE-WEIGHT” Strategy</a:t>
            </a:r>
          </a:p>
        </p:txBody>
      </p:sp>
      <p:sp>
        <p:nvSpPr>
          <p:cNvPr id="57" name="Text 55"/>
          <p:cNvSpPr/>
          <p:nvPr/>
        </p:nvSpPr>
        <p:spPr>
          <a:xfrm>
            <a:off x="5708519" y="4692055"/>
            <a:ext cx="18495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4213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QA Governance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669281" y="4856647"/>
            <a:ext cx="2029968" cy="46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Black Box &amp; White Box Metrics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Logic vs Metric Value</a:t>
            </a:r>
          </a:p>
        </p:txBody>
      </p:sp>
      <p:sp>
        <p:nvSpPr>
          <p:cNvPr id="59" name="Text 57"/>
          <p:cNvSpPr/>
          <p:nvPr/>
        </p:nvSpPr>
        <p:spPr>
          <a:xfrm>
            <a:off x="5718087" y="5472481"/>
            <a:ext cx="2103120" cy="217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42119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AI Testing (Series)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669281" y="5677023"/>
            <a:ext cx="2011680" cy="79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Overview of Testing AI Systems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V&amp;V Analysis (42119-3)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Risk-Based Lifecycle Testing</a:t>
            </a:r>
          </a:p>
        </p:txBody>
      </p:sp>
      <p:sp>
        <p:nvSpPr>
          <p:cNvPr id="61" name="Shape 59"/>
          <p:cNvSpPr/>
          <p:nvPr/>
        </p:nvSpPr>
        <p:spPr>
          <a:xfrm>
            <a:off x="8801100" y="3803904"/>
            <a:ext cx="0" cy="2779776"/>
          </a:xfrm>
          <a:prstGeom prst="line">
            <a:avLst/>
          </a:prstGeom>
          <a:noFill/>
          <a:ln w="7620">
            <a:solidFill>
              <a:srgbClr val="5D3000"/>
            </a:solidFill>
            <a:prstDash val="dash"/>
          </a:ln>
        </p:spPr>
        <p:txBody>
          <a:bodyPr/>
          <a:lstStyle/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690092" y="4369502"/>
            <a:ext cx="3334268" cy="18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25059 / 25055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SQuaRE  —  QA Analyst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741129" y="4647004"/>
            <a:ext cx="2056749" cy="309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A04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&amp; Software Quality Assurance Requirements &amp; Evaluation</a:t>
            </a:r>
            <a:endParaRPr lang="en-US" sz="9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722841" y="4790126"/>
            <a:ext cx="2360422" cy="158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 Plans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Crash Checking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Expected Outcomes Validation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Pass / Fail Criteria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Ground Truth Data</a:t>
            </a:r>
          </a:p>
          <a:p>
            <a:pPr marL="171450" indent="-171450">
              <a:lnSpc>
                <a:spcPts val="168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Confidence Threshold</a:t>
            </a:r>
          </a:p>
        </p:txBody>
      </p:sp>
      <p:sp>
        <p:nvSpPr>
          <p:cNvPr id="65" name="Text 63"/>
          <p:cNvSpPr/>
          <p:nvPr/>
        </p:nvSpPr>
        <p:spPr>
          <a:xfrm>
            <a:off x="137160" y="6693408"/>
            <a:ext cx="1188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35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Innominds Quality Engineering Architecture  ·  Confidential  ·  2025</a:t>
            </a:r>
            <a:endParaRPr lang="en-US" sz="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271</Words>
  <Application>Microsoft Macintosh PowerPoint</Application>
  <PresentationFormat>Widescreen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Lato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Venkata Manikumar Peri</cp:lastModifiedBy>
  <cp:revision>2</cp:revision>
  <dcterms:created xsi:type="dcterms:W3CDTF">2026-05-04T11:47:09Z</dcterms:created>
  <dcterms:modified xsi:type="dcterms:W3CDTF">2026-05-04T12:27:39Z</dcterms:modified>
</cp:coreProperties>
</file>